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18"/>
  </p:notesMasterIdLst>
  <p:sldIdLst>
    <p:sldId id="256" r:id="rId2"/>
    <p:sldId id="267" r:id="rId3"/>
    <p:sldId id="257" r:id="rId4"/>
    <p:sldId id="258" r:id="rId5"/>
    <p:sldId id="260" r:id="rId6"/>
    <p:sldId id="259" r:id="rId7"/>
    <p:sldId id="261" r:id="rId8"/>
    <p:sldId id="262" r:id="rId9"/>
    <p:sldId id="269" r:id="rId10"/>
    <p:sldId id="271" r:id="rId11"/>
    <p:sldId id="272" r:id="rId12"/>
    <p:sldId id="273" r:id="rId13"/>
    <p:sldId id="264" r:id="rId14"/>
    <p:sldId id="268" r:id="rId15"/>
    <p:sldId id="266" r:id="rId16"/>
    <p:sldId id="27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660444-F920-4D96-A709-EF33AD3A8FD7}" v="20" dt="2025-05-05T18:44:36.789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3C25A-F1CE-47BB-A2DC-939170823852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6A205-D6EF-4880-B388-35E8AE7E0A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59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DBD10-DCE0-7408-74C2-9D91FEFF4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A4F23-CC88-2F6D-BEA3-3EC2AF0AC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F3FA8F-D88C-3BDF-EDBA-1B6114D54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043F3-A8BB-78E5-8588-EE7BFEF178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A205-D6EF-4880-B388-35E8AE7E0A4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058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A205-D6EF-4880-B388-35E8AE7E0A4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537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6B398-3B19-AA05-E471-A9B547332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15D059-FA9B-7BEB-ED50-CD73B25C7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B25710-048C-953A-1041-48EFCEBE1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393DF-E93E-3F26-0535-D65567DA26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A205-D6EF-4880-B388-35E8AE7E0A4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91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EE96E-6BAF-78DA-0525-DB9EADE92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D8E2A3-B828-93B5-E2B2-5D0D5ED3F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8779E3-2F1D-7991-E2CF-630CEB3E8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2F121-EED9-1EF8-CF4A-76441F8C64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A205-D6EF-4880-B388-35E8AE7E0A4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715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C138B-7C37-135E-EE1F-8340F9F2E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01464A-899C-F375-652F-D51DA2196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1AAD3E-904A-9975-451E-552172443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E803E-506A-0606-6C75-C79CA1114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A205-D6EF-4880-B388-35E8AE7E0A4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955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6AB2E-CF15-C4A0-E57C-374B69D4B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875E03-CDD1-1071-EB0F-3A6FAED7F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47CA07-9E04-301C-FB55-E34167065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2DBBC-61A4-CC91-F042-EEEB0D5EA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A205-D6EF-4880-B388-35E8AE7E0A4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9539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985FC-B47A-07A6-E7E6-24EFE9708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4DE9A-937A-5694-837C-45298667A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2957E9-6082-54D1-2CCF-D26FAEC1B9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07073-7B54-9BB0-0F84-5A64AF5DE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A205-D6EF-4880-B388-35E8AE7E0A4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3613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25078-E2AC-C927-C1FB-00858E582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1FD5E3-6E1A-9297-A5A4-4ED3331F7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4C102-F5DE-65AF-051B-4E5F5BF78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10B53-AA51-716F-EA72-636894AB7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A205-D6EF-4880-B388-35E8AE7E0A4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196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569F6-6FE8-00AA-B378-3E12D89B5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FDC05-48E7-3484-997E-4ED1EC9BF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7C3CD6-8E44-83EF-7FE0-74E8EC315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9DBCE-9A09-E37A-E0E8-64C5377F0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A205-D6EF-4880-B388-35E8AE7E0A4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3991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9F260-E5B0-88E5-D12B-ECC8EB73E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1470A-29B5-2FC8-5218-B02443532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24762B-6FED-6FDC-0923-C945FE012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2846F-1EBA-3C92-62EB-22832BEDB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A205-D6EF-4880-B388-35E8AE7E0A4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367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E73B4-F440-839E-74B3-C76942B10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6B8D2C-08DA-F07D-5F2C-14C6CAFFA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18F12C-5239-F136-2611-C5EE380318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BD48D-7072-120A-46B2-64236B02E8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A205-D6EF-4880-B388-35E8AE7E0A4C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4005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A40F4-8887-5E0D-6234-ADDFC1262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4BE3EA-DFAD-B5F4-6C2A-BFF84BBEB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E72A46-9FD2-EA45-6817-9C646D505F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F043A-7D26-0D1E-9428-BFFB43178F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A205-D6EF-4880-B388-35E8AE7E0A4C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7619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F4AA6-6CA9-8A96-0D89-E42381B1E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4401F-FFDB-732A-F8EE-8D9A402D7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C4EBC3-49E6-99F5-3450-41A9AFDC7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A2B46-6F9A-AF35-AFA0-F10B058CF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A205-D6EF-4880-B388-35E8AE7E0A4C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0486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D78F5-1856-E9C0-C4FF-B3EB552BC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F51562-7FEA-A2E8-9468-72F49E1601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8A2D3A-BB25-14EC-3148-CA46D83D5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CE91B-AE36-202A-8423-AB1415C616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6A205-D6EF-4880-B388-35E8AE7E0A4C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193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30C0A-5464-4FE4-84EB-FF9C94016DF4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C6404-AD6E-4860-8E75-697CA40B95DA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9E61679-C8E1-21BD-5A09-2D63B8735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3509" y="3566160"/>
            <a:ext cx="6801612" cy="420624"/>
          </a:xfrm>
        </p:spPr>
        <p:txBody>
          <a:bodyPr/>
          <a:lstStyle/>
          <a:p>
            <a:r>
              <a:rPr lang="en-GB" dirty="0"/>
              <a:t>A real-time system monitoring dashboard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CD7204-8355-F3FB-20E6-C7B05DE8EDF9}"/>
              </a:ext>
            </a:extLst>
          </p:cNvPr>
          <p:cNvSpPr txBox="1"/>
          <p:nvPr/>
        </p:nvSpPr>
        <p:spPr>
          <a:xfrm>
            <a:off x="3964647" y="2228671"/>
            <a:ext cx="4760406" cy="120032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7200" b="1" i="1" dirty="0" err="1"/>
              <a:t>Systrace</a:t>
            </a:r>
            <a:r>
              <a:rPr lang="en-IN" sz="7200" b="1" i="1" dirty="0"/>
              <a:t> UI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43718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A3A5C-8855-C3B8-887F-F800C54DB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BA987E-AD7B-0C74-8074-E3FE95D50777}"/>
              </a:ext>
            </a:extLst>
          </p:cNvPr>
          <p:cNvSpPr txBox="1"/>
          <p:nvPr/>
        </p:nvSpPr>
        <p:spPr>
          <a:xfrm>
            <a:off x="379856" y="868680"/>
            <a:ext cx="40768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CE9135-F8E8-9DAF-D71A-F3F92789F915}"/>
              </a:ext>
            </a:extLst>
          </p:cNvPr>
          <p:cNvSpPr txBox="1"/>
          <p:nvPr/>
        </p:nvSpPr>
        <p:spPr>
          <a:xfrm>
            <a:off x="379856" y="2037970"/>
            <a:ext cx="116379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u="sng" dirty="0"/>
              <a:t>Systrace UI</a:t>
            </a:r>
            <a:r>
              <a:rPr lang="en-GB" dirty="0"/>
              <a:t> is a </a:t>
            </a:r>
            <a:r>
              <a:rPr lang="en-GB" b="1" dirty="0"/>
              <a:t>real-time Linux system monitoring dashboard</a:t>
            </a:r>
            <a:r>
              <a:rPr lang="en-GB" dirty="0"/>
              <a:t> that visualizes CPU, memory, disk activity, processes, and system load by reading data directly from the </a:t>
            </a:r>
            <a:r>
              <a:rPr lang="en-GB" b="1" dirty="0"/>
              <a:t>/proc</a:t>
            </a:r>
            <a:r>
              <a:rPr lang="en-GB" dirty="0"/>
              <a:t> virtual filesystem.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Linux provides system information through </a:t>
            </a:r>
            <a:r>
              <a:rPr lang="en-GB" b="1" dirty="0"/>
              <a:t>/proc</a:t>
            </a:r>
            <a:r>
              <a:rPr lang="en-GB" dirty="0"/>
              <a:t>, a virtual filesystem.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Tools like </a:t>
            </a:r>
            <a:r>
              <a:rPr lang="en-GB" b="1" dirty="0" err="1"/>
              <a:t>htop</a:t>
            </a:r>
            <a:r>
              <a:rPr lang="en-GB" dirty="0"/>
              <a:t>, </a:t>
            </a:r>
            <a:r>
              <a:rPr lang="en-GB" b="1" dirty="0"/>
              <a:t>top</a:t>
            </a:r>
            <a:r>
              <a:rPr lang="en-GB" dirty="0"/>
              <a:t>, </a:t>
            </a:r>
            <a:r>
              <a:rPr lang="en-GB" b="1" dirty="0"/>
              <a:t>gnome-system-monitor</a:t>
            </a:r>
            <a:r>
              <a:rPr lang="en-GB" dirty="0"/>
              <a:t> use the same source.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This project replicates similar functionality using a </a:t>
            </a:r>
            <a:r>
              <a:rPr lang="en-GB" b="1" dirty="0"/>
              <a:t>modern web interface</a:t>
            </a:r>
            <a:r>
              <a:rPr lang="en-GB" dirty="0"/>
              <a:t>.</a:t>
            </a:r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914A1F7-D1B8-E4DD-56FD-470AC6D0F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096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C2ECF0-E22C-A235-1A97-87C151D44C46}"/>
              </a:ext>
            </a:extLst>
          </p:cNvPr>
          <p:cNvSpPr txBox="1"/>
          <p:nvPr/>
        </p:nvSpPr>
        <p:spPr>
          <a:xfrm>
            <a:off x="379856" y="868680"/>
            <a:ext cx="41921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/>
              <a:t>Key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B834B3-061C-A90F-BD7B-5F30644BB148}"/>
              </a:ext>
            </a:extLst>
          </p:cNvPr>
          <p:cNvSpPr txBox="1"/>
          <p:nvPr/>
        </p:nvSpPr>
        <p:spPr>
          <a:xfrm>
            <a:off x="379856" y="2037970"/>
            <a:ext cx="613084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Real-time Resource Monitoring:</a:t>
            </a:r>
            <a:r>
              <a:rPr lang="en-US" dirty="0"/>
              <a:t> 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CPU usage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Memory usage (used, free, cached, buffers, swap)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Disk I/O (read/write KB/s)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Load averages &amp; uptime</a:t>
            </a:r>
          </a:p>
          <a:p>
            <a:pPr marL="342900" indent="-342900" algn="l">
              <a:spcAft>
                <a:spcPts val="1200"/>
              </a:spcAft>
              <a:buFont typeface="+mj-lt"/>
              <a:buAutoNum type="arabicPeriod"/>
            </a:pPr>
            <a:r>
              <a:rPr lang="en-US" b="1" dirty="0"/>
              <a:t>Process Management: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Live process table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CPU% &amp; memory (RSS) per process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Filter by name / PID / UID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Kill any running processes from UI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289DF4-2242-2591-0CDB-826B0BC86A0F}"/>
              </a:ext>
            </a:extLst>
          </p:cNvPr>
          <p:cNvSpPr txBox="1"/>
          <p:nvPr/>
        </p:nvSpPr>
        <p:spPr>
          <a:xfrm>
            <a:off x="6510702" y="2037970"/>
            <a:ext cx="609600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200"/>
              </a:spcAft>
              <a:buFont typeface="+mj-lt"/>
              <a:buAutoNum type="arabicPeriod" startAt="3"/>
            </a:pPr>
            <a:r>
              <a:rPr lang="en-US" b="1" dirty="0"/>
              <a:t>Modular Interactive UI:</a:t>
            </a:r>
            <a:r>
              <a:rPr lang="en-US" dirty="0"/>
              <a:t> 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en-US" dirty="0" err="1">
                <a:latin typeface="Arial" panose="020B0604020202020204" pitchFamily="34" charset="0"/>
              </a:rPr>
              <a:t>TailwindCSS</a:t>
            </a:r>
            <a:r>
              <a:rPr lang="en-US" altLang="en-US" dirty="0">
                <a:latin typeface="Arial" panose="020B0604020202020204" pitchFamily="34" charset="0"/>
              </a:rPr>
              <a:t>-based design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Recharts for dynamic graphs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Smooth updates every 2 seconds</a:t>
            </a:r>
            <a:endParaRPr lang="en-US" b="1" dirty="0"/>
          </a:p>
          <a:p>
            <a:pPr marL="342900" indent="-342900" algn="l">
              <a:spcAft>
                <a:spcPts val="1200"/>
              </a:spcAft>
              <a:buFont typeface="+mj-lt"/>
              <a:buAutoNum type="arabicPeriod" startAt="3"/>
            </a:pPr>
            <a:r>
              <a:rPr lang="en-US" b="1" dirty="0"/>
              <a:t>Modular Backend: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REST APIs</a:t>
            </a:r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Reads system data directly from /proc</a:t>
            </a:r>
            <a:endParaRPr lang="en-US" altLang="en-US" sz="800" dirty="0"/>
          </a:p>
          <a:p>
            <a:pPr marL="800100" lvl="1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Kill processes using </a:t>
            </a:r>
            <a:r>
              <a:rPr lang="en-US" altLang="en-US" dirty="0" err="1">
                <a:latin typeface="Arial" panose="020B0604020202020204" pitchFamily="34" charset="0"/>
              </a:rPr>
              <a:t>child_process.exec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9EC323F-9D36-7209-A430-648CC7711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462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7D311-3968-F14E-8440-004D41E0A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F2815C-DA64-DA0D-39FF-016BD0977825}"/>
              </a:ext>
            </a:extLst>
          </p:cNvPr>
          <p:cNvSpPr txBox="1"/>
          <p:nvPr/>
        </p:nvSpPr>
        <p:spPr>
          <a:xfrm>
            <a:off x="379856" y="868680"/>
            <a:ext cx="34805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/>
              <a:t>Tech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F0B39-D2A5-A0A5-7F6A-ED3F99CD8321}"/>
              </a:ext>
            </a:extLst>
          </p:cNvPr>
          <p:cNvSpPr txBox="1"/>
          <p:nvPr/>
        </p:nvSpPr>
        <p:spPr>
          <a:xfrm>
            <a:off x="590167" y="1884343"/>
            <a:ext cx="5408297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IN" sz="3200" dirty="0"/>
              <a:t>Frontend:</a:t>
            </a:r>
          </a:p>
          <a:p>
            <a:pPr marL="342900" indent="-342900" algn="l">
              <a:spcAft>
                <a:spcPts val="1200"/>
              </a:spcAft>
              <a:buFont typeface="+mj-lt"/>
              <a:buAutoNum type="arabicPeriod"/>
            </a:pPr>
            <a:r>
              <a:rPr lang="en-IN" b="1" dirty="0"/>
              <a:t>React: </a:t>
            </a:r>
            <a:r>
              <a:rPr lang="en-IN" dirty="0"/>
              <a:t>For building the user interface.</a:t>
            </a:r>
          </a:p>
          <a:p>
            <a:pPr marL="342900" indent="-342900" algn="l">
              <a:spcAft>
                <a:spcPts val="1200"/>
              </a:spcAft>
              <a:buFont typeface="+mj-lt"/>
              <a:buAutoNum type="arabicPeriod"/>
            </a:pPr>
            <a:r>
              <a:rPr lang="en-IN" b="1" dirty="0"/>
              <a:t>Vite:</a:t>
            </a:r>
            <a:r>
              <a:rPr lang="en-IN" dirty="0"/>
              <a:t> For fast development and build processes.</a:t>
            </a:r>
          </a:p>
          <a:p>
            <a:pPr marL="342900" indent="-342900" algn="l">
              <a:spcAft>
                <a:spcPts val="1200"/>
              </a:spcAft>
              <a:buFont typeface="+mj-lt"/>
              <a:buAutoNum type="arabicPeriod"/>
            </a:pPr>
            <a:r>
              <a:rPr lang="en-IN" b="1" dirty="0" err="1"/>
              <a:t>TailwindCSS</a:t>
            </a:r>
            <a:r>
              <a:rPr lang="en-IN" b="1" dirty="0"/>
              <a:t>:</a:t>
            </a:r>
            <a:r>
              <a:rPr lang="en-IN" dirty="0"/>
              <a:t> For styling. </a:t>
            </a:r>
          </a:p>
          <a:p>
            <a:pPr marL="342900" indent="-342900" algn="l">
              <a:spcAft>
                <a:spcPts val="1200"/>
              </a:spcAft>
              <a:buFont typeface="+mj-lt"/>
              <a:buAutoNum type="arabicPeriod"/>
            </a:pPr>
            <a:r>
              <a:rPr lang="en-IN" b="1" dirty="0"/>
              <a:t>Recharts: </a:t>
            </a:r>
            <a:r>
              <a:rPr lang="en-IN" dirty="0"/>
              <a:t>For CPU and Memory graphs.</a:t>
            </a:r>
          </a:p>
          <a:p>
            <a:pPr marL="342900" indent="-342900" algn="l">
              <a:spcAft>
                <a:spcPts val="1200"/>
              </a:spcAft>
              <a:buFont typeface="+mj-lt"/>
              <a:buAutoNum type="arabicPeriod"/>
            </a:pPr>
            <a:r>
              <a:rPr lang="en-IN" b="1" dirty="0"/>
              <a:t>Fetch API:</a:t>
            </a:r>
            <a:r>
              <a:rPr lang="en-IN" dirty="0"/>
              <a:t> For backend calls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DC21E7-ECFA-1200-95C5-2E746A59CBF3}"/>
              </a:ext>
            </a:extLst>
          </p:cNvPr>
          <p:cNvSpPr txBox="1"/>
          <p:nvPr/>
        </p:nvSpPr>
        <p:spPr>
          <a:xfrm>
            <a:off x="7110982" y="1884343"/>
            <a:ext cx="45933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IN" sz="3200" dirty="0"/>
              <a:t>Backend: </a:t>
            </a:r>
          </a:p>
          <a:p>
            <a:pPr marL="342900" indent="-342900" algn="l">
              <a:spcAft>
                <a:spcPts val="1200"/>
              </a:spcAft>
              <a:buFont typeface="+mj-lt"/>
              <a:buAutoNum type="arabicPeriod"/>
            </a:pPr>
            <a:r>
              <a:rPr lang="en-IN" b="1" dirty="0"/>
              <a:t>Node.js:</a:t>
            </a:r>
            <a:r>
              <a:rPr lang="en-IN" dirty="0"/>
              <a:t> For server-side logic.</a:t>
            </a:r>
          </a:p>
          <a:p>
            <a:pPr marL="342900" indent="-342900" algn="l">
              <a:spcAft>
                <a:spcPts val="1200"/>
              </a:spcAft>
              <a:buFont typeface="+mj-lt"/>
              <a:buAutoNum type="arabicPeriod"/>
            </a:pPr>
            <a:r>
              <a:rPr lang="en-IN" b="1" dirty="0"/>
              <a:t>Express:</a:t>
            </a:r>
            <a:r>
              <a:rPr lang="en-IN" dirty="0"/>
              <a:t> For building RESTful APIs. </a:t>
            </a:r>
          </a:p>
          <a:p>
            <a:pPr marL="342900" indent="-342900" algn="l">
              <a:spcAft>
                <a:spcPts val="1200"/>
              </a:spcAft>
              <a:buFont typeface="+mj-lt"/>
              <a:buAutoNum type="arabicPeriod"/>
            </a:pPr>
            <a:r>
              <a:rPr lang="en-IN" b="1" dirty="0"/>
              <a:t>fs/promises: </a:t>
            </a:r>
            <a:r>
              <a:rPr lang="en-IN" dirty="0"/>
              <a:t>To read /proc files.</a:t>
            </a:r>
          </a:p>
          <a:p>
            <a:pPr marL="342900" indent="-342900" algn="l">
              <a:spcAft>
                <a:spcPts val="1200"/>
              </a:spcAft>
              <a:buFont typeface="+mj-lt"/>
              <a:buAutoNum type="arabicPeriod"/>
            </a:pPr>
            <a:r>
              <a:rPr lang="en-IN" b="1" dirty="0" err="1"/>
              <a:t>child_process.exec</a:t>
            </a:r>
            <a:r>
              <a:rPr lang="en-IN" b="1" dirty="0"/>
              <a:t>: </a:t>
            </a:r>
            <a:r>
              <a:rPr lang="en-IN" dirty="0"/>
              <a:t>To manage processes</a:t>
            </a:r>
          </a:p>
        </p:txBody>
      </p:sp>
    </p:spTree>
    <p:extLst>
      <p:ext uri="{BB962C8B-B14F-4D97-AF65-F5344CB8AC3E}">
        <p14:creationId xmlns:p14="http://schemas.microsoft.com/office/powerpoint/2010/main" val="1745947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5032E-36ED-0742-81C2-4E0477200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8B1EEF-EE19-D4E7-A0FE-28817AE7DCF5}"/>
              </a:ext>
            </a:extLst>
          </p:cNvPr>
          <p:cNvSpPr txBox="1"/>
          <p:nvPr/>
        </p:nvSpPr>
        <p:spPr>
          <a:xfrm>
            <a:off x="379856" y="868680"/>
            <a:ext cx="45261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/>
              <a:t>Flow Diagram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FAD3D2-B3E4-E44F-4053-583EBC65DC8F}"/>
              </a:ext>
            </a:extLst>
          </p:cNvPr>
          <p:cNvSpPr/>
          <p:nvPr/>
        </p:nvSpPr>
        <p:spPr>
          <a:xfrm>
            <a:off x="948813" y="2202426"/>
            <a:ext cx="2566219" cy="74725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127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User opens Dashboard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4B384D8-74C1-D18C-1C1C-42C3684C1488}"/>
              </a:ext>
            </a:extLst>
          </p:cNvPr>
          <p:cNvCxnSpPr>
            <a:stCxn id="5" idx="3"/>
          </p:cNvCxnSpPr>
          <p:nvPr/>
        </p:nvCxnSpPr>
        <p:spPr>
          <a:xfrm flipV="1">
            <a:off x="3515032" y="2566219"/>
            <a:ext cx="1278194" cy="98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F1D49E-DC1E-2134-3DCB-DB064A64B0B3}"/>
              </a:ext>
            </a:extLst>
          </p:cNvPr>
          <p:cNvSpPr/>
          <p:nvPr/>
        </p:nvSpPr>
        <p:spPr>
          <a:xfrm>
            <a:off x="4798141" y="2192593"/>
            <a:ext cx="2566219" cy="74725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127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React UI</a:t>
            </a:r>
          </a:p>
          <a:p>
            <a:pPr algn="ctr"/>
            <a:r>
              <a:rPr lang="en-IN" dirty="0">
                <a:ln w="127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Starts 2 sec. polling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81560A2-6E56-9954-1396-D77F1D00CAB1}"/>
              </a:ext>
            </a:extLst>
          </p:cNvPr>
          <p:cNvCxnSpPr/>
          <p:nvPr/>
        </p:nvCxnSpPr>
        <p:spPr>
          <a:xfrm flipV="1">
            <a:off x="7369275" y="2566219"/>
            <a:ext cx="1278194" cy="98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B86A120-B897-66A4-B1A6-B512502A6D3B}"/>
              </a:ext>
            </a:extLst>
          </p:cNvPr>
          <p:cNvSpPr/>
          <p:nvPr/>
        </p:nvSpPr>
        <p:spPr>
          <a:xfrm>
            <a:off x="8652384" y="2192593"/>
            <a:ext cx="2566219" cy="74725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127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Backend API</a:t>
            </a:r>
          </a:p>
          <a:p>
            <a:pPr algn="ctr"/>
            <a:r>
              <a:rPr lang="en-IN" dirty="0">
                <a:ln w="127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receives requests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874A70C-DA4D-2BD2-62E6-2AE172290671}"/>
              </a:ext>
            </a:extLst>
          </p:cNvPr>
          <p:cNvCxnSpPr>
            <a:stCxn id="5" idx="2"/>
          </p:cNvCxnSpPr>
          <p:nvPr/>
        </p:nvCxnSpPr>
        <p:spPr>
          <a:xfrm>
            <a:off x="2231923" y="2949677"/>
            <a:ext cx="14748" cy="8652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B9AA7A0-C560-FBB6-0C3D-5CE55B98CE18}"/>
              </a:ext>
            </a:extLst>
          </p:cNvPr>
          <p:cNvSpPr/>
          <p:nvPr/>
        </p:nvSpPr>
        <p:spPr>
          <a:xfrm>
            <a:off x="963561" y="3814916"/>
            <a:ext cx="2566219" cy="865239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127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Reads /proc files</a:t>
            </a:r>
          </a:p>
          <a:p>
            <a:pPr algn="ctr"/>
            <a:r>
              <a:rPr lang="en-IN" dirty="0">
                <a:ln w="127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(CPU, Disk, Memory, Processes)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E351768-1BC3-2D77-B931-C7185CADA60F}"/>
              </a:ext>
            </a:extLst>
          </p:cNvPr>
          <p:cNvCxnSpPr/>
          <p:nvPr/>
        </p:nvCxnSpPr>
        <p:spPr>
          <a:xfrm flipV="1">
            <a:off x="3529781" y="4178708"/>
            <a:ext cx="1278194" cy="98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253A823-BDDF-8A66-A0EB-616AB9869E86}"/>
              </a:ext>
            </a:extLst>
          </p:cNvPr>
          <p:cNvSpPr/>
          <p:nvPr/>
        </p:nvSpPr>
        <p:spPr>
          <a:xfrm>
            <a:off x="4812890" y="3805082"/>
            <a:ext cx="2566219" cy="87507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127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Backend computes</a:t>
            </a:r>
          </a:p>
          <a:p>
            <a:pPr algn="ctr"/>
            <a:r>
              <a:rPr lang="en-IN" dirty="0">
                <a:ln w="127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CPU%, Mem%, Disk I/O,</a:t>
            </a:r>
          </a:p>
          <a:p>
            <a:pPr algn="ctr"/>
            <a:r>
              <a:rPr lang="en-IN" dirty="0">
                <a:ln w="127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Process stats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DDCB775-4F94-8F66-D575-195BB858720F}"/>
              </a:ext>
            </a:extLst>
          </p:cNvPr>
          <p:cNvCxnSpPr/>
          <p:nvPr/>
        </p:nvCxnSpPr>
        <p:spPr>
          <a:xfrm flipV="1">
            <a:off x="7384024" y="4188542"/>
            <a:ext cx="1278194" cy="98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399482C-0DCF-CF7B-8CB9-6B153A60121B}"/>
              </a:ext>
            </a:extLst>
          </p:cNvPr>
          <p:cNvSpPr/>
          <p:nvPr/>
        </p:nvSpPr>
        <p:spPr>
          <a:xfrm>
            <a:off x="8667133" y="3814916"/>
            <a:ext cx="2566219" cy="85540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127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Returns JSON </a:t>
            </a:r>
          </a:p>
          <a:p>
            <a:pPr algn="ctr"/>
            <a:r>
              <a:rPr lang="en-IN" dirty="0">
                <a:ln w="127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response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4A75A4C-E25C-B6C9-BD6B-D1105BE90C62}"/>
              </a:ext>
            </a:extLst>
          </p:cNvPr>
          <p:cNvCxnSpPr/>
          <p:nvPr/>
        </p:nvCxnSpPr>
        <p:spPr>
          <a:xfrm>
            <a:off x="6061586" y="2939844"/>
            <a:ext cx="14748" cy="8652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4803C97-514A-F155-8BA2-BC93144346F6}"/>
              </a:ext>
            </a:extLst>
          </p:cNvPr>
          <p:cNvCxnSpPr/>
          <p:nvPr/>
        </p:nvCxnSpPr>
        <p:spPr>
          <a:xfrm>
            <a:off x="9945328" y="2949677"/>
            <a:ext cx="14748" cy="8652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C17B3B4-03DC-7E17-00F8-1BB8E04DC103}"/>
              </a:ext>
            </a:extLst>
          </p:cNvPr>
          <p:cNvCxnSpPr/>
          <p:nvPr/>
        </p:nvCxnSpPr>
        <p:spPr>
          <a:xfrm>
            <a:off x="6095999" y="4670322"/>
            <a:ext cx="14748" cy="8652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6844C68-A305-69B3-B035-7EB88EAE02F0}"/>
              </a:ext>
            </a:extLst>
          </p:cNvPr>
          <p:cNvSpPr/>
          <p:nvPr/>
        </p:nvSpPr>
        <p:spPr>
          <a:xfrm>
            <a:off x="4827637" y="5545393"/>
            <a:ext cx="2566219" cy="875073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127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React updates UI:</a:t>
            </a:r>
          </a:p>
          <a:p>
            <a:pPr algn="ctr"/>
            <a:r>
              <a:rPr lang="en-IN" dirty="0">
                <a:ln w="12700"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Cards, Tables and Graph</a:t>
            </a:r>
          </a:p>
        </p:txBody>
      </p:sp>
    </p:spTree>
    <p:extLst>
      <p:ext uri="{BB962C8B-B14F-4D97-AF65-F5344CB8AC3E}">
        <p14:creationId xmlns:p14="http://schemas.microsoft.com/office/powerpoint/2010/main" val="2147973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C483E-89A6-AA96-17E2-755AA5BA2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8B237F-6749-6B79-7398-D37E5C0AD7C9}"/>
              </a:ext>
            </a:extLst>
          </p:cNvPr>
          <p:cNvSpPr txBox="1"/>
          <p:nvPr/>
        </p:nvSpPr>
        <p:spPr>
          <a:xfrm>
            <a:off x="379856" y="868680"/>
            <a:ext cx="61895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/>
              <a:t>Sequence Diagram 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AF0B87B-68CF-9D3B-6063-E55EC5717F33}"/>
              </a:ext>
            </a:extLst>
          </p:cNvPr>
          <p:cNvSpPr/>
          <p:nvPr/>
        </p:nvSpPr>
        <p:spPr>
          <a:xfrm>
            <a:off x="640080" y="2331720"/>
            <a:ext cx="1170432" cy="5943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User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36BE8750-F684-1933-A2B1-93F6BAA8B732}"/>
              </a:ext>
            </a:extLst>
          </p:cNvPr>
          <p:cNvSpPr/>
          <p:nvPr/>
        </p:nvSpPr>
        <p:spPr>
          <a:xfrm>
            <a:off x="6096000" y="2331720"/>
            <a:ext cx="1170432" cy="5943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Backend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B135C702-B3B3-FA17-2CBA-DC43DA26C87E}"/>
              </a:ext>
            </a:extLst>
          </p:cNvPr>
          <p:cNvSpPr/>
          <p:nvPr/>
        </p:nvSpPr>
        <p:spPr>
          <a:xfrm>
            <a:off x="9448800" y="2331720"/>
            <a:ext cx="1840992" cy="5943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LINUX Kernel</a:t>
            </a:r>
          </a:p>
          <a:p>
            <a:pPr algn="ctr"/>
            <a:r>
              <a:rPr lang="en-IN" dirty="0"/>
              <a:t>/proc Filesystem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FE0EC7F-C90F-9E41-DB37-BA53B36ADDFE}"/>
              </a:ext>
            </a:extLst>
          </p:cNvPr>
          <p:cNvCxnSpPr>
            <a:stCxn id="61" idx="2"/>
          </p:cNvCxnSpPr>
          <p:nvPr/>
        </p:nvCxnSpPr>
        <p:spPr>
          <a:xfrm>
            <a:off x="1225296" y="2926080"/>
            <a:ext cx="0" cy="3794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35D83E7-949C-7C3F-8F6C-3AEC11CDD7DB}"/>
              </a:ext>
            </a:extLst>
          </p:cNvPr>
          <p:cNvCxnSpPr/>
          <p:nvPr/>
        </p:nvCxnSpPr>
        <p:spPr>
          <a:xfrm>
            <a:off x="6681216" y="2926080"/>
            <a:ext cx="0" cy="3794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9F41A03-40A6-6D18-8A3D-ED30AE4A8030}"/>
              </a:ext>
            </a:extLst>
          </p:cNvPr>
          <p:cNvCxnSpPr/>
          <p:nvPr/>
        </p:nvCxnSpPr>
        <p:spPr>
          <a:xfrm>
            <a:off x="10369296" y="2926080"/>
            <a:ext cx="0" cy="3794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FB5F7E6-A6E2-57E4-D725-BE31C35A28B1}"/>
              </a:ext>
            </a:extLst>
          </p:cNvPr>
          <p:cNvCxnSpPr>
            <a:cxnSpLocks/>
          </p:cNvCxnSpPr>
          <p:nvPr/>
        </p:nvCxnSpPr>
        <p:spPr>
          <a:xfrm>
            <a:off x="1225296" y="3291840"/>
            <a:ext cx="293129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092678C0-35F8-78A7-AB26-93176AD35827}"/>
              </a:ext>
            </a:extLst>
          </p:cNvPr>
          <p:cNvSpPr txBox="1"/>
          <p:nvPr/>
        </p:nvSpPr>
        <p:spPr>
          <a:xfrm>
            <a:off x="1991825" y="2932071"/>
            <a:ext cx="1983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Click Kill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22EAF5C1-C554-47D5-A51F-2F06E3E82C41}"/>
              </a:ext>
            </a:extLst>
          </p:cNvPr>
          <p:cNvSpPr txBox="1"/>
          <p:nvPr/>
        </p:nvSpPr>
        <p:spPr>
          <a:xfrm>
            <a:off x="6096000" y="1735122"/>
            <a:ext cx="2309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Kill process Operation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EAE3654-857E-F90F-519A-4B10C57F769F}"/>
              </a:ext>
            </a:extLst>
          </p:cNvPr>
          <p:cNvSpPr/>
          <p:nvPr/>
        </p:nvSpPr>
        <p:spPr>
          <a:xfrm>
            <a:off x="3571370" y="2358773"/>
            <a:ext cx="1170432" cy="5943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Frontend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421065C-386C-2BA4-6745-888499F72929}"/>
              </a:ext>
            </a:extLst>
          </p:cNvPr>
          <p:cNvCxnSpPr>
            <a:stCxn id="5" idx="2"/>
          </p:cNvCxnSpPr>
          <p:nvPr/>
        </p:nvCxnSpPr>
        <p:spPr>
          <a:xfrm>
            <a:off x="4156586" y="2953133"/>
            <a:ext cx="0" cy="37947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EB14318-3339-B8E9-3BDA-3065A8DC90E9}"/>
              </a:ext>
            </a:extLst>
          </p:cNvPr>
          <p:cNvCxnSpPr>
            <a:cxnSpLocks/>
          </p:cNvCxnSpPr>
          <p:nvPr/>
        </p:nvCxnSpPr>
        <p:spPr>
          <a:xfrm>
            <a:off x="4146845" y="3689492"/>
            <a:ext cx="253437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FB24D1E-529F-A91E-E1E9-CC9C05043371}"/>
              </a:ext>
            </a:extLst>
          </p:cNvPr>
          <p:cNvSpPr txBox="1"/>
          <p:nvPr/>
        </p:nvSpPr>
        <p:spPr>
          <a:xfrm>
            <a:off x="4913374" y="3329723"/>
            <a:ext cx="1983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POST /kill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02D2669-9A9F-6C3E-89C9-104856D99CA4}"/>
              </a:ext>
            </a:extLst>
          </p:cNvPr>
          <p:cNvCxnSpPr>
            <a:cxnSpLocks/>
          </p:cNvCxnSpPr>
          <p:nvPr/>
        </p:nvCxnSpPr>
        <p:spPr>
          <a:xfrm>
            <a:off x="9324870" y="4161548"/>
            <a:ext cx="104442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074DC3A-93E3-1025-B679-21AD908266C4}"/>
              </a:ext>
            </a:extLst>
          </p:cNvPr>
          <p:cNvSpPr txBox="1"/>
          <p:nvPr/>
        </p:nvSpPr>
        <p:spPr>
          <a:xfrm>
            <a:off x="6731944" y="3931921"/>
            <a:ext cx="29039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exec(“kill –TERM PID”)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C350DEA-0E56-429E-2709-C67D1CEA995B}"/>
              </a:ext>
            </a:extLst>
          </p:cNvPr>
          <p:cNvCxnSpPr>
            <a:cxnSpLocks/>
          </p:cNvCxnSpPr>
          <p:nvPr/>
        </p:nvCxnSpPr>
        <p:spPr>
          <a:xfrm flipH="1">
            <a:off x="4146845" y="5755341"/>
            <a:ext cx="253437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A62C177-8855-9B2E-A8EB-CCA799C28D5E}"/>
              </a:ext>
            </a:extLst>
          </p:cNvPr>
          <p:cNvSpPr txBox="1"/>
          <p:nvPr/>
        </p:nvSpPr>
        <p:spPr>
          <a:xfrm>
            <a:off x="8056266" y="4388566"/>
            <a:ext cx="698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Signal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EFC198-014C-3784-7A91-B88E513A421D}"/>
              </a:ext>
            </a:extLst>
          </p:cNvPr>
          <p:cNvSpPr txBox="1"/>
          <p:nvPr/>
        </p:nvSpPr>
        <p:spPr>
          <a:xfrm>
            <a:off x="4636410" y="5397017"/>
            <a:ext cx="242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JSON Success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8DAB3F-9E67-F927-3286-8AEB34F12D4E}"/>
              </a:ext>
            </a:extLst>
          </p:cNvPr>
          <p:cNvSpPr txBox="1"/>
          <p:nvPr/>
        </p:nvSpPr>
        <p:spPr>
          <a:xfrm>
            <a:off x="1740202" y="5798711"/>
            <a:ext cx="2794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Show popup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F087BF7-F1A0-6334-6071-7DF7F219E596}"/>
              </a:ext>
            </a:extLst>
          </p:cNvPr>
          <p:cNvCxnSpPr>
            <a:cxnSpLocks/>
          </p:cNvCxnSpPr>
          <p:nvPr/>
        </p:nvCxnSpPr>
        <p:spPr>
          <a:xfrm flipH="1">
            <a:off x="1225296" y="6208383"/>
            <a:ext cx="291368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2D31E9A-EFCE-B32F-DA55-527DFD41D5A2}"/>
              </a:ext>
            </a:extLst>
          </p:cNvPr>
          <p:cNvCxnSpPr>
            <a:cxnSpLocks/>
          </p:cNvCxnSpPr>
          <p:nvPr/>
        </p:nvCxnSpPr>
        <p:spPr>
          <a:xfrm>
            <a:off x="6681216" y="4751134"/>
            <a:ext cx="368807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228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AFEAA-18D4-D0B1-E853-874FFD977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E4FD0D-5F04-9BD3-073B-E903D5FDCDE4}"/>
              </a:ext>
            </a:extLst>
          </p:cNvPr>
          <p:cNvSpPr txBox="1"/>
          <p:nvPr/>
        </p:nvSpPr>
        <p:spPr>
          <a:xfrm>
            <a:off x="379856" y="868680"/>
            <a:ext cx="45736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/>
              <a:t>API Endpoints</a:t>
            </a:r>
            <a:endParaRPr lang="en-IN" sz="3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20C5C82-12B7-2130-BE88-54F8E26776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080903"/>
              </p:ext>
            </p:extLst>
          </p:nvPr>
        </p:nvGraphicFramePr>
        <p:xfrm>
          <a:off x="1266877" y="2075902"/>
          <a:ext cx="9519111" cy="369802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173037">
                  <a:extLst>
                    <a:ext uri="{9D8B030D-6E8A-4147-A177-3AD203B41FA5}">
                      <a16:colId xmlns:a16="http://schemas.microsoft.com/office/drawing/2014/main" val="422471126"/>
                    </a:ext>
                  </a:extLst>
                </a:gridCol>
                <a:gridCol w="3173037">
                  <a:extLst>
                    <a:ext uri="{9D8B030D-6E8A-4147-A177-3AD203B41FA5}">
                      <a16:colId xmlns:a16="http://schemas.microsoft.com/office/drawing/2014/main" val="90274129"/>
                    </a:ext>
                  </a:extLst>
                </a:gridCol>
                <a:gridCol w="3173037">
                  <a:extLst>
                    <a:ext uri="{9D8B030D-6E8A-4147-A177-3AD203B41FA5}">
                      <a16:colId xmlns:a16="http://schemas.microsoft.com/office/drawing/2014/main" val="2249458896"/>
                    </a:ext>
                  </a:extLst>
                </a:gridCol>
              </a:tblGrid>
              <a:tr h="5282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</a:rPr>
                        <a:t>Method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</a:rPr>
                        <a:t>Route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effectLst/>
                        </a:rPr>
                        <a:t>Description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3773569"/>
                  </a:ext>
                </a:extLst>
              </a:tr>
              <a:tr h="5282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GET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/api/cpu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CPU usage statistics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9159578"/>
                  </a:ext>
                </a:extLst>
              </a:tr>
              <a:tr h="5282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GET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/api/memory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Memory usage stats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900306"/>
                  </a:ext>
                </a:extLst>
              </a:tr>
              <a:tr h="5282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GET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/api/processes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List of active processes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9936841"/>
                  </a:ext>
                </a:extLst>
              </a:tr>
              <a:tr h="5282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POST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/api/processes/:pid/kill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Kill a process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6115812"/>
                  </a:ext>
                </a:extLst>
              </a:tr>
              <a:tr h="5282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GET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/api/summary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Load averages &amp; uptime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6591115"/>
                  </a:ext>
                </a:extLst>
              </a:tr>
              <a:tr h="5282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GET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/api/disk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Disk I/O rates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3663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3661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62AC8-1C33-DDE2-C659-72F35C183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9AF358-F613-2473-5C34-24BC43478DBF}"/>
              </a:ext>
            </a:extLst>
          </p:cNvPr>
          <p:cNvSpPr txBox="1"/>
          <p:nvPr/>
        </p:nvSpPr>
        <p:spPr>
          <a:xfrm>
            <a:off x="379856" y="868680"/>
            <a:ext cx="632795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/>
              <a:t>How /proc is Used?</a:t>
            </a:r>
            <a:endParaRPr lang="en-IN" sz="3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7499A9A-3570-B4BB-7B49-A2B14230DFD3}"/>
              </a:ext>
            </a:extLst>
          </p:cNvPr>
          <p:cNvSpPr/>
          <p:nvPr/>
        </p:nvSpPr>
        <p:spPr>
          <a:xfrm>
            <a:off x="1081549" y="2202425"/>
            <a:ext cx="2910348" cy="178947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/proc/stat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provides system-wide CPU statistics and performance metrics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8F22D5-CB12-AFD6-7B48-64D3F97BF45A}"/>
              </a:ext>
            </a:extLst>
          </p:cNvPr>
          <p:cNvSpPr/>
          <p:nvPr/>
        </p:nvSpPr>
        <p:spPr>
          <a:xfrm>
            <a:off x="4640826" y="2202425"/>
            <a:ext cx="2910348" cy="178947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/proc/</a:t>
            </a:r>
            <a:r>
              <a:rPr lang="en-GB" b="1" dirty="0" err="1">
                <a:solidFill>
                  <a:schemeClr val="tx1"/>
                </a:solidFill>
              </a:rPr>
              <a:t>meminfo</a:t>
            </a:r>
            <a:endParaRPr lang="en-GB" b="1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</a:rPr>
              <a:t>displays detailed memory usage information for the entire system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A1DED4-458F-B61A-586C-D3C1EFE292DF}"/>
              </a:ext>
            </a:extLst>
          </p:cNvPr>
          <p:cNvSpPr/>
          <p:nvPr/>
        </p:nvSpPr>
        <p:spPr>
          <a:xfrm>
            <a:off x="8200103" y="2202424"/>
            <a:ext cx="2910348" cy="178947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/proc/[</a:t>
            </a:r>
            <a:r>
              <a:rPr lang="en-GB" b="1" dirty="0" err="1">
                <a:solidFill>
                  <a:schemeClr val="tx1"/>
                </a:solidFill>
              </a:rPr>
              <a:t>pid</a:t>
            </a:r>
            <a:r>
              <a:rPr lang="en-GB" b="1" dirty="0">
                <a:solidFill>
                  <a:schemeClr val="tx1"/>
                </a:solidFill>
              </a:rPr>
              <a:t>]/stat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contains process-specific status and resource utilization data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BFFB8E9-3459-8A5A-E05B-B00AF480D109}"/>
              </a:ext>
            </a:extLst>
          </p:cNvPr>
          <p:cNvSpPr/>
          <p:nvPr/>
        </p:nvSpPr>
        <p:spPr>
          <a:xfrm>
            <a:off x="1081549" y="4309978"/>
            <a:ext cx="2910348" cy="178947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/proc/[</a:t>
            </a:r>
            <a:r>
              <a:rPr lang="en-GB" b="1" dirty="0" err="1">
                <a:solidFill>
                  <a:schemeClr val="tx1"/>
                </a:solidFill>
              </a:rPr>
              <a:t>pid</a:t>
            </a:r>
            <a:r>
              <a:rPr lang="en-GB" b="1" dirty="0">
                <a:solidFill>
                  <a:schemeClr val="tx1"/>
                </a:solidFill>
              </a:rPr>
              <a:t>]/status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offers human-readable process information and state details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79199A1-0022-2FBF-A0C8-1ECEC92E685A}"/>
              </a:ext>
            </a:extLst>
          </p:cNvPr>
          <p:cNvSpPr/>
          <p:nvPr/>
        </p:nvSpPr>
        <p:spPr>
          <a:xfrm>
            <a:off x="4640826" y="4309978"/>
            <a:ext cx="2910348" cy="178947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/proc/</a:t>
            </a:r>
            <a:r>
              <a:rPr lang="en-GB" b="1" dirty="0" err="1">
                <a:solidFill>
                  <a:schemeClr val="tx1"/>
                </a:solidFill>
              </a:rPr>
              <a:t>diskstats</a:t>
            </a:r>
            <a:endParaRPr lang="en-GB" b="1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</a:rPr>
              <a:t>tracks disk I/O statistics for all block devices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CA0E05-BA74-0751-5E54-DE98993A67E0}"/>
              </a:ext>
            </a:extLst>
          </p:cNvPr>
          <p:cNvSpPr/>
          <p:nvPr/>
        </p:nvSpPr>
        <p:spPr>
          <a:xfrm>
            <a:off x="8200103" y="4309978"/>
            <a:ext cx="2910348" cy="178947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/proc/uptime</a:t>
            </a:r>
            <a:r>
              <a:rPr lang="en-GB" dirty="0">
                <a:solidFill>
                  <a:schemeClr val="tx1"/>
                </a:solidFill>
              </a:rPr>
              <a:t> and </a:t>
            </a:r>
            <a:r>
              <a:rPr lang="en-GB" b="1" dirty="0">
                <a:solidFill>
                  <a:schemeClr val="tx1"/>
                </a:solidFill>
              </a:rPr>
              <a:t>/proc/</a:t>
            </a:r>
            <a:r>
              <a:rPr lang="en-GB" b="1" dirty="0" err="1">
                <a:solidFill>
                  <a:schemeClr val="tx1"/>
                </a:solidFill>
              </a:rPr>
              <a:t>loadavg</a:t>
            </a:r>
            <a:endParaRPr lang="en-GB" b="1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</a:rPr>
              <a:t>report system uptime and CPU load averages</a:t>
            </a:r>
          </a:p>
        </p:txBody>
      </p:sp>
    </p:spTree>
    <p:extLst>
      <p:ext uri="{BB962C8B-B14F-4D97-AF65-F5344CB8AC3E}">
        <p14:creationId xmlns:p14="http://schemas.microsoft.com/office/powerpoint/2010/main" val="1959781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C0B2B-D670-8759-9A0D-B2760B8C1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F58418-E724-B033-B1F2-0CBA0477523C}"/>
              </a:ext>
            </a:extLst>
          </p:cNvPr>
          <p:cNvSpPr txBox="1"/>
          <p:nvPr/>
        </p:nvSpPr>
        <p:spPr>
          <a:xfrm>
            <a:off x="3767706" y="662203"/>
            <a:ext cx="532709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/>
              <a:t>CPU Monitoring</a:t>
            </a:r>
            <a:endParaRPr lang="en-IN" sz="3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EA6B40-3A73-9485-51D4-07B80A70DFA9}"/>
              </a:ext>
            </a:extLst>
          </p:cNvPr>
          <p:cNvSpPr txBox="1"/>
          <p:nvPr/>
        </p:nvSpPr>
        <p:spPr>
          <a:xfrm>
            <a:off x="379856" y="2025908"/>
            <a:ext cx="698450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Data Source:  </a:t>
            </a:r>
            <a:r>
              <a:rPr lang="en-IN" sz="2000" dirty="0"/>
              <a:t>/proc/stat								</a:t>
            </a:r>
          </a:p>
          <a:p>
            <a:endParaRPr lang="en-IN" sz="2000" b="1" dirty="0"/>
          </a:p>
          <a:p>
            <a:r>
              <a:rPr lang="en-IN" sz="2000" b="1" dirty="0"/>
              <a:t>Data:</a:t>
            </a:r>
            <a:r>
              <a:rPr lang="en-IN" sz="2000" dirty="0"/>
              <a:t> </a:t>
            </a:r>
            <a:r>
              <a:rPr lang="pt-BR" sz="2000" dirty="0"/>
              <a:t>cpu  2255 34 2290 22625563 6290 127 456</a:t>
            </a:r>
          </a:p>
          <a:p>
            <a:endParaRPr lang="pt-BR" sz="2000" b="1" dirty="0"/>
          </a:p>
          <a:p>
            <a:r>
              <a:rPr lang="pt-BR" sz="2000" b="1" dirty="0"/>
              <a:t>Formula:</a:t>
            </a:r>
          </a:p>
          <a:p>
            <a:r>
              <a:rPr lang="pt-BR" sz="2000" dirty="0"/>
              <a:t>	To calculate CPU% we calculate difference between two readings.</a:t>
            </a:r>
          </a:p>
          <a:p>
            <a:r>
              <a:rPr lang="pt-BR" sz="2000" dirty="0"/>
              <a:t>	</a:t>
            </a:r>
            <a:r>
              <a:rPr lang="en-GB" sz="2000" dirty="0"/>
              <a:t> </a:t>
            </a:r>
            <a:r>
              <a:rPr lang="el-GR" sz="2000" dirty="0"/>
              <a:t>Δ</a:t>
            </a:r>
            <a:r>
              <a:rPr lang="en-GB" sz="2000" dirty="0"/>
              <a:t>Idle = </a:t>
            </a:r>
            <a:r>
              <a:rPr lang="en-GB" sz="2000" dirty="0" err="1"/>
              <a:t>idle_now</a:t>
            </a:r>
            <a:r>
              <a:rPr lang="en-GB" sz="2000" dirty="0"/>
              <a:t> - </a:t>
            </a:r>
            <a:r>
              <a:rPr lang="en-GB" sz="2000" dirty="0" err="1"/>
              <a:t>idle_prev</a:t>
            </a:r>
            <a:endParaRPr lang="en-GB" sz="2000" dirty="0"/>
          </a:p>
          <a:p>
            <a:r>
              <a:rPr lang="en-GB" sz="2000" dirty="0"/>
              <a:t>	</a:t>
            </a:r>
            <a:r>
              <a:rPr lang="el-GR" sz="2000" dirty="0"/>
              <a:t>Δ</a:t>
            </a:r>
            <a:r>
              <a:rPr lang="en-GB" sz="2000" dirty="0"/>
              <a:t>Total = </a:t>
            </a:r>
            <a:r>
              <a:rPr lang="en-GB" sz="2000" dirty="0" err="1"/>
              <a:t>total_now</a:t>
            </a:r>
            <a:r>
              <a:rPr lang="en-GB" sz="2000" dirty="0"/>
              <a:t> - </a:t>
            </a:r>
            <a:r>
              <a:rPr lang="en-GB" sz="2000" dirty="0" err="1"/>
              <a:t>total_prev</a:t>
            </a:r>
            <a:endParaRPr lang="en-GB" sz="2000" dirty="0"/>
          </a:p>
          <a:p>
            <a:r>
              <a:rPr lang="en-GB" sz="2000" dirty="0"/>
              <a:t>	total = user + nice + system + idle + </a:t>
            </a:r>
            <a:r>
              <a:rPr lang="en-GB" sz="2000" dirty="0" err="1"/>
              <a:t>iowait</a:t>
            </a:r>
            <a:r>
              <a:rPr lang="en-GB" sz="2000" dirty="0"/>
              <a:t> + </a:t>
            </a:r>
            <a:r>
              <a:rPr lang="en-GB" sz="2000" dirty="0" err="1"/>
              <a:t>irq</a:t>
            </a:r>
            <a:r>
              <a:rPr lang="en-GB" sz="2000" dirty="0"/>
              <a:t> + </a:t>
            </a:r>
            <a:r>
              <a:rPr lang="en-GB" sz="2000" dirty="0" err="1"/>
              <a:t>softirq</a:t>
            </a:r>
            <a:endParaRPr lang="en-GB" sz="2000" dirty="0"/>
          </a:p>
          <a:p>
            <a:r>
              <a:rPr lang="en-GB" sz="2000" dirty="0"/>
              <a:t>	CPU% = (1 - </a:t>
            </a:r>
            <a:r>
              <a:rPr lang="el-GR" sz="2000" dirty="0"/>
              <a:t>Δ</a:t>
            </a:r>
            <a:r>
              <a:rPr lang="en-GB" sz="2000" dirty="0"/>
              <a:t>Idle / </a:t>
            </a:r>
            <a:r>
              <a:rPr lang="el-GR" sz="2000" dirty="0"/>
              <a:t>Δ</a:t>
            </a:r>
            <a:r>
              <a:rPr lang="en-GB" sz="2000" dirty="0"/>
              <a:t>Total) * 100</a:t>
            </a:r>
            <a:endParaRPr lang="pt-BR" sz="2000" dirty="0"/>
          </a:p>
          <a:p>
            <a:endParaRPr lang="pt-BR" sz="2000" b="1" dirty="0"/>
          </a:p>
          <a:p>
            <a:r>
              <a:rPr lang="en-IN" sz="2000" b="1" dirty="0"/>
              <a:t>Displayed as:</a:t>
            </a:r>
          </a:p>
          <a:p>
            <a:r>
              <a:rPr lang="en-IN" sz="2000" b="1" dirty="0"/>
              <a:t>	</a:t>
            </a:r>
            <a:r>
              <a:rPr lang="en-GB" b="1" dirty="0"/>
              <a:t>CPU Usage Card</a:t>
            </a:r>
            <a:r>
              <a:rPr lang="en-GB" dirty="0"/>
              <a:t> → instant CPU percentage</a:t>
            </a:r>
          </a:p>
          <a:p>
            <a:r>
              <a:rPr lang="en-GB" b="1" dirty="0"/>
              <a:t>	Line Graph (Recharts)</a:t>
            </a:r>
            <a:r>
              <a:rPr lang="en-GB" dirty="0"/>
              <a:t> → history of last </a:t>
            </a:r>
            <a:r>
              <a:rPr lang="en-GB" b="1" dirty="0"/>
              <a:t>60 samples</a:t>
            </a:r>
            <a:r>
              <a:rPr lang="en-GB" dirty="0"/>
              <a:t> (120 sec)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B00403C-8A52-5130-9DC0-EC4E7B1FC9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370063"/>
              </p:ext>
            </p:extLst>
          </p:nvPr>
        </p:nvGraphicFramePr>
        <p:xfrm>
          <a:off x="7254859" y="2025908"/>
          <a:ext cx="4704769" cy="3863616"/>
        </p:xfrm>
        <a:graphic>
          <a:graphicData uri="http://schemas.openxmlformats.org/drawingml/2006/table">
            <a:tbl>
              <a:tblPr/>
              <a:tblGrid>
                <a:gridCol w="1415845">
                  <a:extLst>
                    <a:ext uri="{9D8B030D-6E8A-4147-A177-3AD203B41FA5}">
                      <a16:colId xmlns:a16="http://schemas.microsoft.com/office/drawing/2014/main" val="3961280531"/>
                    </a:ext>
                  </a:extLst>
                </a:gridCol>
                <a:gridCol w="3288924">
                  <a:extLst>
                    <a:ext uri="{9D8B030D-6E8A-4147-A177-3AD203B41FA5}">
                      <a16:colId xmlns:a16="http://schemas.microsoft.com/office/drawing/2014/main" val="2110112274"/>
                    </a:ext>
                  </a:extLst>
                </a:gridCol>
              </a:tblGrid>
              <a:tr h="482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132836"/>
                  </a:ext>
                </a:extLst>
              </a:tr>
              <a:tr h="482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user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Time in user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2244175"/>
                  </a:ext>
                </a:extLst>
              </a:tr>
              <a:tr h="482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nice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Time for low-priority user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873525"/>
                  </a:ext>
                </a:extLst>
              </a:tr>
              <a:tr h="482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Time in kernel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706476"/>
                  </a:ext>
                </a:extLst>
              </a:tr>
              <a:tr h="482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idle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CPU idle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821560"/>
                  </a:ext>
                </a:extLst>
              </a:tr>
              <a:tr h="482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iowait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Waiting for I/O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350381"/>
                  </a:ext>
                </a:extLst>
              </a:tr>
              <a:tr h="482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irq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Hardware interrupts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8734914"/>
                  </a:ext>
                </a:extLst>
              </a:tr>
              <a:tr h="482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 err="1"/>
                        <a:t>softirq</a:t>
                      </a:r>
                      <a:endParaRPr lang="en-IN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Software interrupts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052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5698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1F16C-881E-3BEC-35E9-B7732D9D0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5F3013-F9F4-6A02-97B7-75A750B3F707}"/>
              </a:ext>
            </a:extLst>
          </p:cNvPr>
          <p:cNvSpPr txBox="1"/>
          <p:nvPr/>
        </p:nvSpPr>
        <p:spPr>
          <a:xfrm>
            <a:off x="2847931" y="460644"/>
            <a:ext cx="649613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/>
              <a:t>Memory Monitoring</a:t>
            </a:r>
            <a:endParaRPr lang="en-IN" sz="3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9C326-EC4F-E57D-36AE-E96410BF24DA}"/>
              </a:ext>
            </a:extLst>
          </p:cNvPr>
          <p:cNvSpPr txBox="1"/>
          <p:nvPr/>
        </p:nvSpPr>
        <p:spPr>
          <a:xfrm>
            <a:off x="379856" y="2025908"/>
            <a:ext cx="698450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Data Source:  </a:t>
            </a:r>
            <a:r>
              <a:rPr lang="en-IN" sz="2000" dirty="0"/>
              <a:t>/proc/</a:t>
            </a:r>
            <a:r>
              <a:rPr lang="en-IN" sz="2000" dirty="0" err="1"/>
              <a:t>meminfo</a:t>
            </a:r>
            <a:r>
              <a:rPr lang="en-IN" sz="2000" dirty="0"/>
              <a:t>								</a:t>
            </a:r>
          </a:p>
          <a:p>
            <a:endParaRPr lang="en-IN" sz="2000" b="1" dirty="0"/>
          </a:p>
          <a:p>
            <a:r>
              <a:rPr lang="en-IN" sz="2000" b="1" dirty="0"/>
              <a:t>Data: </a:t>
            </a:r>
            <a:r>
              <a:rPr lang="en-IN" sz="2000" dirty="0"/>
              <a:t>Dictionary or fields and their values.</a:t>
            </a:r>
          </a:p>
          <a:p>
            <a:endParaRPr lang="pt-BR" sz="2000" b="1" dirty="0"/>
          </a:p>
          <a:p>
            <a:r>
              <a:rPr lang="pt-BR" sz="2000" b="1" dirty="0"/>
              <a:t>Formula:</a:t>
            </a:r>
          </a:p>
          <a:p>
            <a:r>
              <a:rPr lang="pt-BR" sz="2000" dirty="0"/>
              <a:t>	Linux uses unused RAM as cache. So, this cache is</a:t>
            </a:r>
          </a:p>
          <a:p>
            <a:r>
              <a:rPr lang="pt-BR" sz="2000" dirty="0"/>
              <a:t>reclaimable and not counted in used.</a:t>
            </a:r>
          </a:p>
          <a:p>
            <a:r>
              <a:rPr lang="pt-BR" sz="2000" dirty="0"/>
              <a:t>	</a:t>
            </a:r>
            <a:r>
              <a:rPr lang="en-GB" sz="2000" dirty="0"/>
              <a:t> used = </a:t>
            </a:r>
            <a:r>
              <a:rPr lang="en-GB" sz="2000" dirty="0" err="1"/>
              <a:t>MemTotal</a:t>
            </a:r>
            <a:r>
              <a:rPr lang="en-GB" sz="2000" dirty="0"/>
              <a:t> - (</a:t>
            </a:r>
            <a:r>
              <a:rPr lang="en-GB" sz="2000" dirty="0" err="1"/>
              <a:t>MemFree</a:t>
            </a:r>
            <a:r>
              <a:rPr lang="en-GB" sz="2000" dirty="0"/>
              <a:t> + Buffers + Cached)</a:t>
            </a:r>
          </a:p>
          <a:p>
            <a:endParaRPr lang="pt-BR" sz="2000" b="1" dirty="0"/>
          </a:p>
          <a:p>
            <a:r>
              <a:rPr lang="en-IN" sz="2000" b="1" dirty="0"/>
              <a:t>Displayed as:</a:t>
            </a:r>
          </a:p>
          <a:p>
            <a:r>
              <a:rPr lang="en-IN" sz="2000" b="1" dirty="0"/>
              <a:t>	</a:t>
            </a:r>
            <a:r>
              <a:rPr lang="en-GB" b="1" dirty="0"/>
              <a:t>Memory Usage Card</a:t>
            </a:r>
            <a:r>
              <a:rPr lang="en-GB" dirty="0"/>
              <a:t> → </a:t>
            </a:r>
            <a:r>
              <a:rPr lang="en-IN" dirty="0"/>
              <a:t>showing used/total memory </a:t>
            </a:r>
          </a:p>
          <a:p>
            <a:r>
              <a:rPr lang="en-GB" b="1" dirty="0"/>
              <a:t>	Line Graph (Recharts)</a:t>
            </a:r>
            <a:r>
              <a:rPr lang="en-GB" dirty="0"/>
              <a:t> → history of last </a:t>
            </a:r>
            <a:r>
              <a:rPr lang="en-GB" b="1" dirty="0"/>
              <a:t>60 samples</a:t>
            </a:r>
            <a:endParaRPr lang="en-GB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AF726EA-1A69-AB46-9E95-5E627A2DD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125676"/>
              </p:ext>
            </p:extLst>
          </p:nvPr>
        </p:nvGraphicFramePr>
        <p:xfrm>
          <a:off x="7254859" y="2025908"/>
          <a:ext cx="4704769" cy="2571888"/>
        </p:xfrm>
        <a:graphic>
          <a:graphicData uri="http://schemas.openxmlformats.org/drawingml/2006/table">
            <a:tbl>
              <a:tblPr/>
              <a:tblGrid>
                <a:gridCol w="1415845">
                  <a:extLst>
                    <a:ext uri="{9D8B030D-6E8A-4147-A177-3AD203B41FA5}">
                      <a16:colId xmlns:a16="http://schemas.microsoft.com/office/drawing/2014/main" val="3961280531"/>
                    </a:ext>
                  </a:extLst>
                </a:gridCol>
                <a:gridCol w="3288924">
                  <a:extLst>
                    <a:ext uri="{9D8B030D-6E8A-4147-A177-3AD203B41FA5}">
                      <a16:colId xmlns:a16="http://schemas.microsoft.com/office/drawing/2014/main" val="2110112274"/>
                    </a:ext>
                  </a:extLst>
                </a:gridCol>
              </a:tblGrid>
              <a:tr h="4829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132836"/>
                  </a:ext>
                </a:extLst>
              </a:tr>
              <a:tr h="482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MemTotal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Total physical 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2244175"/>
                  </a:ext>
                </a:extLst>
              </a:tr>
              <a:tr h="482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MemFree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Unallocated 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873525"/>
                  </a:ext>
                </a:extLst>
              </a:tr>
              <a:tr h="482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Buffers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/>
                        <a:t>Data buffers for I/O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706476"/>
                  </a:ext>
                </a:extLst>
              </a:tr>
              <a:tr h="482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Cached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File cache to speed up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821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6047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B2517-114E-FECE-716B-3C5A6713F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DEE37A-519A-29EC-91E3-6A84822F3768}"/>
              </a:ext>
            </a:extLst>
          </p:cNvPr>
          <p:cNvSpPr txBox="1"/>
          <p:nvPr/>
        </p:nvSpPr>
        <p:spPr>
          <a:xfrm>
            <a:off x="2847931" y="460644"/>
            <a:ext cx="65101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/>
              <a:t>Disk I/O Monitoring</a:t>
            </a:r>
            <a:endParaRPr lang="en-IN" sz="3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684ED0-5A89-E135-503A-BA9A0FEB89CD}"/>
              </a:ext>
            </a:extLst>
          </p:cNvPr>
          <p:cNvSpPr txBox="1"/>
          <p:nvPr/>
        </p:nvSpPr>
        <p:spPr>
          <a:xfrm>
            <a:off x="379856" y="2025908"/>
            <a:ext cx="698450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Data Source:  </a:t>
            </a:r>
            <a:r>
              <a:rPr lang="en-IN" sz="2000" dirty="0"/>
              <a:t>/proc/</a:t>
            </a:r>
            <a:r>
              <a:rPr lang="en-IN" sz="2000" dirty="0" err="1"/>
              <a:t>diskstats</a:t>
            </a:r>
            <a:r>
              <a:rPr lang="en-IN" sz="2000" dirty="0"/>
              <a:t>								</a:t>
            </a:r>
          </a:p>
          <a:p>
            <a:endParaRPr lang="en-IN" sz="2000" b="1" dirty="0"/>
          </a:p>
          <a:p>
            <a:r>
              <a:rPr lang="en-IN" sz="2000" b="1" dirty="0"/>
              <a:t>Data: </a:t>
            </a:r>
            <a:r>
              <a:rPr lang="sv-SE" sz="2000" dirty="0"/>
              <a:t>8 0 sda 1576986 45021 49867320 89213 1265789 234567 	98765432 123456 ...</a:t>
            </a:r>
          </a:p>
          <a:p>
            <a:endParaRPr lang="pt-BR" sz="2000" b="1" dirty="0"/>
          </a:p>
          <a:p>
            <a:r>
              <a:rPr lang="pt-BR" sz="2000" b="1" dirty="0"/>
              <a:t>Formula:</a:t>
            </a:r>
          </a:p>
          <a:p>
            <a:r>
              <a:rPr lang="pt-BR" sz="2000" dirty="0"/>
              <a:t>	To calculate KB/s we calculate difference between two readings.</a:t>
            </a:r>
          </a:p>
          <a:p>
            <a:r>
              <a:rPr lang="pt-BR" sz="2000" dirty="0"/>
              <a:t>	</a:t>
            </a:r>
            <a:r>
              <a:rPr lang="en-GB" sz="2000" dirty="0" err="1"/>
              <a:t>Δsectors</a:t>
            </a:r>
            <a:r>
              <a:rPr lang="en-GB" sz="2000" dirty="0"/>
              <a:t> = </a:t>
            </a:r>
            <a:r>
              <a:rPr lang="en-GB" sz="2000" dirty="0" err="1"/>
              <a:t>sectors_now</a:t>
            </a:r>
            <a:r>
              <a:rPr lang="en-GB" sz="2000" dirty="0"/>
              <a:t> - </a:t>
            </a:r>
            <a:r>
              <a:rPr lang="en-GB" sz="2000" dirty="0" err="1"/>
              <a:t>sectors_prev</a:t>
            </a:r>
            <a:endParaRPr lang="en-GB" sz="2000" dirty="0"/>
          </a:p>
          <a:p>
            <a:r>
              <a:rPr lang="en-GB" sz="2000" dirty="0"/>
              <a:t>	KB/s = (</a:t>
            </a:r>
            <a:r>
              <a:rPr lang="en-GB" sz="2000" dirty="0" err="1"/>
              <a:t>Δsectors</a:t>
            </a:r>
            <a:r>
              <a:rPr lang="en-GB" sz="2000" dirty="0"/>
              <a:t> × 512 bytes) / 1024 / </a:t>
            </a:r>
            <a:r>
              <a:rPr lang="en-GB" sz="2000" dirty="0" err="1"/>
              <a:t>time_interval</a:t>
            </a:r>
            <a:r>
              <a:rPr lang="en-GB" sz="2000" dirty="0"/>
              <a:t> </a:t>
            </a:r>
          </a:p>
          <a:p>
            <a:endParaRPr lang="pt-BR" sz="2000" b="1" dirty="0"/>
          </a:p>
          <a:p>
            <a:r>
              <a:rPr lang="en-IN" sz="2000" b="1" dirty="0"/>
              <a:t>Displayed as:</a:t>
            </a:r>
          </a:p>
          <a:p>
            <a:r>
              <a:rPr lang="en-IN" sz="2000" b="1" dirty="0"/>
              <a:t>	</a:t>
            </a:r>
            <a:r>
              <a:rPr lang="en-GB" b="1" dirty="0"/>
              <a:t>Disk table </a:t>
            </a:r>
            <a:r>
              <a:rPr lang="en-GB" dirty="0"/>
              <a:t>→ Shows read KB/s and Write KB/s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7B512E-EFB6-D5E5-34DF-564B1E77C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32226"/>
              </p:ext>
            </p:extLst>
          </p:nvPr>
        </p:nvGraphicFramePr>
        <p:xfrm>
          <a:off x="7295764" y="1606039"/>
          <a:ext cx="4516379" cy="49029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77374">
                  <a:extLst>
                    <a:ext uri="{9D8B030D-6E8A-4147-A177-3AD203B41FA5}">
                      <a16:colId xmlns:a16="http://schemas.microsoft.com/office/drawing/2014/main" val="2570738955"/>
                    </a:ext>
                  </a:extLst>
                </a:gridCol>
                <a:gridCol w="3639005">
                  <a:extLst>
                    <a:ext uri="{9D8B030D-6E8A-4147-A177-3AD203B41FA5}">
                      <a16:colId xmlns:a16="http://schemas.microsoft.com/office/drawing/2014/main" val="3109594307"/>
                    </a:ext>
                  </a:extLst>
                </a:gridCol>
              </a:tblGrid>
              <a:tr h="3565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Field 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Name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8464245"/>
                  </a:ext>
                </a:extLst>
              </a:tr>
              <a:tr h="356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1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major number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1063128"/>
                  </a:ext>
                </a:extLst>
              </a:tr>
              <a:tr h="356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2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minor number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1310766"/>
                  </a:ext>
                </a:extLst>
              </a:tr>
              <a:tr h="356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3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device name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0904270"/>
                  </a:ext>
                </a:extLst>
              </a:tr>
              <a:tr h="356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4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reads completed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3268955"/>
                  </a:ext>
                </a:extLst>
              </a:tr>
              <a:tr h="356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5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reads merged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397233"/>
                  </a:ext>
                </a:extLst>
              </a:tr>
              <a:tr h="356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6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sectors read</a:t>
                      </a:r>
                      <a:r>
                        <a:rPr lang="en-IN" sz="1800"/>
                        <a:t> ← IMPORTANT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2464001"/>
                  </a:ext>
                </a:extLst>
              </a:tr>
              <a:tr h="356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7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time spent reading (ms)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6923336"/>
                  </a:ext>
                </a:extLst>
              </a:tr>
              <a:tr h="356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8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writes completed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0274481"/>
                  </a:ext>
                </a:extLst>
              </a:tr>
              <a:tr h="356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9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writes merged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0636086"/>
                  </a:ext>
                </a:extLst>
              </a:tr>
              <a:tr h="356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10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sectors written</a:t>
                      </a:r>
                      <a:r>
                        <a:rPr lang="en-IN" sz="1800"/>
                        <a:t> ← IMPORTANT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610318"/>
                  </a:ext>
                </a:extLst>
              </a:tr>
              <a:tr h="356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11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time spent writing (ms)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5481713"/>
                  </a:ext>
                </a:extLst>
              </a:tr>
              <a:tr h="624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12–14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(more fields: I/O in progress, time spent doing I/O, etc.)</a:t>
                      </a:r>
                    </a:p>
                  </a:txBody>
                  <a:tcPr marL="56400" marR="56400" marT="28200" marB="28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123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0714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0F778-D3C9-878C-70A2-B2BB00E01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B53F08-4167-F90B-43E4-6A45C7BAEE14}"/>
              </a:ext>
            </a:extLst>
          </p:cNvPr>
          <p:cNvSpPr txBox="1"/>
          <p:nvPr/>
        </p:nvSpPr>
        <p:spPr>
          <a:xfrm>
            <a:off x="2847931" y="460644"/>
            <a:ext cx="62456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/>
              <a:t>Process Monitoring</a:t>
            </a:r>
            <a:endParaRPr lang="en-IN" sz="3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B929E9-DFFF-DA45-0E2C-45F9BDCE7C1B}"/>
              </a:ext>
            </a:extLst>
          </p:cNvPr>
          <p:cNvSpPr txBox="1"/>
          <p:nvPr/>
        </p:nvSpPr>
        <p:spPr>
          <a:xfrm>
            <a:off x="379856" y="2025908"/>
            <a:ext cx="62456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Data Source:  </a:t>
            </a:r>
            <a:r>
              <a:rPr lang="en-IN" sz="2000" dirty="0"/>
              <a:t>/proc/[</a:t>
            </a:r>
            <a:r>
              <a:rPr lang="en-IN" sz="2000" dirty="0" err="1"/>
              <a:t>pid</a:t>
            </a:r>
            <a:r>
              <a:rPr lang="en-IN" sz="2000" dirty="0"/>
              <a:t>]/stats					</a:t>
            </a:r>
          </a:p>
          <a:p>
            <a:endParaRPr lang="en-IN" sz="2000" b="1" dirty="0"/>
          </a:p>
          <a:p>
            <a:r>
              <a:rPr lang="en-IN" sz="2000" b="1" dirty="0"/>
              <a:t>Data: </a:t>
            </a:r>
            <a:r>
              <a:rPr lang="en-GB" sz="2000" dirty="0" err="1"/>
              <a:t>pid</a:t>
            </a:r>
            <a:r>
              <a:rPr lang="en-GB" sz="2000" dirty="0"/>
              <a:t> (name) R ... </a:t>
            </a:r>
            <a:r>
              <a:rPr lang="en-GB" sz="2000" dirty="0" err="1"/>
              <a:t>utime</a:t>
            </a:r>
            <a:r>
              <a:rPr lang="en-GB" sz="2000" dirty="0"/>
              <a:t> stime ...</a:t>
            </a:r>
          </a:p>
          <a:p>
            <a:endParaRPr lang="pt-BR" sz="2000" b="1" dirty="0"/>
          </a:p>
          <a:p>
            <a:r>
              <a:rPr lang="pt-BR" sz="2000" b="1" dirty="0"/>
              <a:t>Formula:</a:t>
            </a:r>
          </a:p>
          <a:p>
            <a:r>
              <a:rPr lang="pt-BR" sz="2000" dirty="0"/>
              <a:t>	</a:t>
            </a:r>
            <a:r>
              <a:rPr lang="en-GB" sz="2000" dirty="0"/>
              <a:t>CPU% = (</a:t>
            </a:r>
            <a:r>
              <a:rPr lang="en-GB" sz="2000" dirty="0" err="1"/>
              <a:t>Δprocess_ticks</a:t>
            </a:r>
            <a:r>
              <a:rPr lang="en-GB" sz="2000" dirty="0"/>
              <a:t> / </a:t>
            </a:r>
            <a:r>
              <a:rPr lang="en-GB" sz="2000" dirty="0" err="1"/>
              <a:t>Δtotal_cpu_ticks</a:t>
            </a:r>
            <a:r>
              <a:rPr lang="en-GB" sz="2000" dirty="0"/>
              <a:t>) *</a:t>
            </a:r>
            <a:r>
              <a:rPr lang="en-GB" sz="2000" dirty="0" err="1"/>
              <a:t>number_of_cores</a:t>
            </a:r>
            <a:r>
              <a:rPr lang="en-GB" sz="2000" dirty="0"/>
              <a:t> * 100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4C6CAA-2648-32FF-6249-676508990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175551"/>
              </p:ext>
            </p:extLst>
          </p:nvPr>
        </p:nvGraphicFramePr>
        <p:xfrm>
          <a:off x="706438" y="4370326"/>
          <a:ext cx="3305123" cy="2194560"/>
        </p:xfrm>
        <a:graphic>
          <a:graphicData uri="http://schemas.openxmlformats.org/drawingml/2006/table">
            <a:tbl>
              <a:tblPr/>
              <a:tblGrid>
                <a:gridCol w="951491">
                  <a:extLst>
                    <a:ext uri="{9D8B030D-6E8A-4147-A177-3AD203B41FA5}">
                      <a16:colId xmlns:a16="http://schemas.microsoft.com/office/drawing/2014/main" val="3823166882"/>
                    </a:ext>
                  </a:extLst>
                </a:gridCol>
                <a:gridCol w="2353632">
                  <a:extLst>
                    <a:ext uri="{9D8B030D-6E8A-4147-A177-3AD203B41FA5}">
                      <a16:colId xmlns:a16="http://schemas.microsoft.com/office/drawing/2014/main" val="31702992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9530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800"/>
                        <a:t>State (R/S/D/Z/T)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595436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/>
                        <a:t>Utime</a:t>
                      </a:r>
                      <a:r>
                        <a:rPr lang="en-IN" sz="1800" dirty="0"/>
                        <a:t> – in user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8381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Stime – in kernel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7417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virtual memory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9519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RSS in pages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72756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AEE4DDE-D1FC-B067-2401-FACB6774044B}"/>
              </a:ext>
            </a:extLst>
          </p:cNvPr>
          <p:cNvSpPr txBox="1"/>
          <p:nvPr/>
        </p:nvSpPr>
        <p:spPr>
          <a:xfrm>
            <a:off x="5851507" y="2025908"/>
            <a:ext cx="62456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Data Source:  </a:t>
            </a:r>
            <a:r>
              <a:rPr lang="en-IN" sz="2000" dirty="0"/>
              <a:t>proc/[</a:t>
            </a:r>
            <a:r>
              <a:rPr lang="en-IN" sz="2000" dirty="0" err="1"/>
              <a:t>pid</a:t>
            </a:r>
            <a:r>
              <a:rPr lang="en-IN" sz="2000" dirty="0"/>
              <a:t>]/status					</a:t>
            </a:r>
          </a:p>
          <a:p>
            <a:endParaRPr lang="en-IN" sz="2000" b="1" dirty="0"/>
          </a:p>
          <a:p>
            <a:r>
              <a:rPr lang="en-IN" sz="2000" b="1" dirty="0"/>
              <a:t>Data: </a:t>
            </a:r>
            <a:r>
              <a:rPr lang="en-GB" sz="2000" dirty="0"/>
              <a:t>key value pairs</a:t>
            </a:r>
          </a:p>
          <a:p>
            <a:endParaRPr lang="en-GB" sz="2000" dirty="0"/>
          </a:p>
          <a:p>
            <a:endParaRPr lang="en-GB" sz="2000" dirty="0"/>
          </a:p>
          <a:p>
            <a:endParaRPr lang="pt-BR" sz="2000" b="1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3EFB913-BE08-5126-E3D6-BD4FEC7A6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76782"/>
              </p:ext>
            </p:extLst>
          </p:nvPr>
        </p:nvGraphicFramePr>
        <p:xfrm>
          <a:off x="6056242" y="3149292"/>
          <a:ext cx="3608868" cy="1371600"/>
        </p:xfrm>
        <a:graphic>
          <a:graphicData uri="http://schemas.openxmlformats.org/drawingml/2006/table">
            <a:tbl>
              <a:tblPr/>
              <a:tblGrid>
                <a:gridCol w="1038934">
                  <a:extLst>
                    <a:ext uri="{9D8B030D-6E8A-4147-A177-3AD203B41FA5}">
                      <a16:colId xmlns:a16="http://schemas.microsoft.com/office/drawing/2014/main" val="3823166882"/>
                    </a:ext>
                  </a:extLst>
                </a:gridCol>
                <a:gridCol w="2569934">
                  <a:extLst>
                    <a:ext uri="{9D8B030D-6E8A-4147-A177-3AD203B41FA5}">
                      <a16:colId xmlns:a16="http://schemas.microsoft.com/office/drawing/2014/main" val="31702992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9530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 err="1"/>
                        <a:t>uid</a:t>
                      </a:r>
                      <a:endParaRPr lang="en-IN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user ID</a:t>
                      </a:r>
                      <a:endParaRPr lang="pl-PL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595436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 err="1"/>
                        <a:t>VmRSS</a:t>
                      </a:r>
                      <a:endParaRPr lang="en-IN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Resident Memory (actual memory used)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83815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732CE9A-67DF-A2F7-DB85-156408B07CB5}"/>
              </a:ext>
            </a:extLst>
          </p:cNvPr>
          <p:cNvSpPr txBox="1"/>
          <p:nvPr/>
        </p:nvSpPr>
        <p:spPr>
          <a:xfrm>
            <a:off x="5970773" y="5113663"/>
            <a:ext cx="60960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Displayed as:</a:t>
            </a:r>
          </a:p>
          <a:p>
            <a:r>
              <a:rPr lang="en-IN" sz="2000" b="1" dirty="0"/>
              <a:t>	</a:t>
            </a:r>
            <a:r>
              <a:rPr lang="en-GB" b="1" dirty="0"/>
              <a:t>Disk table </a:t>
            </a:r>
            <a:r>
              <a:rPr lang="en-GB" dirty="0"/>
              <a:t>→ Live process table.</a:t>
            </a:r>
          </a:p>
          <a:p>
            <a:r>
              <a:rPr lang="en-GB" dirty="0"/>
              <a:t>	</a:t>
            </a:r>
            <a:r>
              <a:rPr lang="en-GB" b="1" dirty="0"/>
              <a:t>Kill Button</a:t>
            </a:r>
            <a:r>
              <a:rPr lang="en-GB" dirty="0"/>
              <a:t> → To kill the process from UI</a:t>
            </a:r>
          </a:p>
        </p:txBody>
      </p:sp>
    </p:spTree>
    <p:extLst>
      <p:ext uri="{BB962C8B-B14F-4D97-AF65-F5344CB8AC3E}">
        <p14:creationId xmlns:p14="http://schemas.microsoft.com/office/powerpoint/2010/main" val="915733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0E895-EFDC-37AA-8A6B-F1F94A294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2CE440-EEFE-D199-8015-643B58CDF769}"/>
              </a:ext>
            </a:extLst>
          </p:cNvPr>
          <p:cNvSpPr txBox="1"/>
          <p:nvPr/>
        </p:nvSpPr>
        <p:spPr>
          <a:xfrm>
            <a:off x="379856" y="868680"/>
            <a:ext cx="56544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/>
              <a:t>App Walkthrough</a:t>
            </a:r>
            <a:endParaRPr lang="en-IN" sz="3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39B070-C1CB-C7C5-306A-00085A779245}"/>
              </a:ext>
            </a:extLst>
          </p:cNvPr>
          <p:cNvSpPr txBox="1"/>
          <p:nvPr/>
        </p:nvSpPr>
        <p:spPr>
          <a:xfrm>
            <a:off x="6096000" y="1607344"/>
            <a:ext cx="60940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dirty="0"/>
              <a:t>– CPU &amp; Memory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0EB72F-5434-21AD-C214-D61CAEDE1D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69"/>
          <a:stretch>
            <a:fillRect/>
          </a:stretch>
        </p:blipFill>
        <p:spPr>
          <a:xfrm>
            <a:off x="1956619" y="2242648"/>
            <a:ext cx="9124335" cy="436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17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F0030-AB84-B5C1-5F03-37F7404B0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8E4420-6C26-39C1-6CFC-43C9AC6F4CD9}"/>
              </a:ext>
            </a:extLst>
          </p:cNvPr>
          <p:cNvSpPr txBox="1"/>
          <p:nvPr/>
        </p:nvSpPr>
        <p:spPr>
          <a:xfrm>
            <a:off x="379856" y="868680"/>
            <a:ext cx="56544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000" dirty="0"/>
              <a:t>App Walkthrough</a:t>
            </a:r>
            <a:endParaRPr lang="en-IN" sz="3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FFC160-4FEF-D12A-9D45-EFC18AEDE7F5}"/>
              </a:ext>
            </a:extLst>
          </p:cNvPr>
          <p:cNvSpPr txBox="1"/>
          <p:nvPr/>
        </p:nvSpPr>
        <p:spPr>
          <a:xfrm>
            <a:off x="6096000" y="1607344"/>
            <a:ext cx="60940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dirty="0"/>
              <a:t>Disk I/O &amp; Processes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CCC83-D6C1-0843-1209-2D6711984C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51"/>
          <a:stretch>
            <a:fillRect/>
          </a:stretch>
        </p:blipFill>
        <p:spPr>
          <a:xfrm>
            <a:off x="1995948" y="2161342"/>
            <a:ext cx="8200104" cy="457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955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0A1EA-FE39-4F9C-B32C-A4929BF78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A410E6-E99C-1572-594F-4CAB35CD5EC6}"/>
              </a:ext>
            </a:extLst>
          </p:cNvPr>
          <p:cNvSpPr txBox="1"/>
          <p:nvPr/>
        </p:nvSpPr>
        <p:spPr>
          <a:xfrm>
            <a:off x="379856" y="868680"/>
            <a:ext cx="69147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6000" dirty="0"/>
              <a:t>Future Enhancements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63068F-4B8E-C7B6-2117-83575F61A395}"/>
              </a:ext>
            </a:extLst>
          </p:cNvPr>
          <p:cNvSpPr txBox="1"/>
          <p:nvPr/>
        </p:nvSpPr>
        <p:spPr>
          <a:xfrm>
            <a:off x="509286" y="1884343"/>
            <a:ext cx="9398643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sz="2400" b="1" i="0" dirty="0">
                <a:effectLst/>
                <a:latin typeface="Segoe WPC"/>
              </a:rPr>
              <a:t>GPU usage monitoring: </a:t>
            </a:r>
            <a:r>
              <a:rPr lang="en-US" sz="2000" b="0" i="0" dirty="0">
                <a:effectLst/>
                <a:latin typeface="Segoe WPC"/>
              </a:rPr>
              <a:t>Implement functionality to also monitor GPU usage.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2400" b="1" i="0" dirty="0">
                <a:effectLst/>
                <a:latin typeface="Segoe WPC"/>
              </a:rPr>
              <a:t>Network statistics: </a:t>
            </a:r>
            <a:r>
              <a:rPr lang="en-US" sz="2000" i="0" dirty="0">
                <a:effectLst/>
                <a:latin typeface="Segoe WPC"/>
              </a:rPr>
              <a:t>Showing network stats using /proc/net.</a:t>
            </a:r>
            <a:endParaRPr lang="en-US" sz="2000" b="0" i="0" dirty="0">
              <a:effectLst/>
              <a:latin typeface="Segoe WPC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400" b="1" i="0" dirty="0">
                <a:effectLst/>
                <a:latin typeface="Segoe WPC"/>
              </a:rPr>
              <a:t>Alerts on high CPU &amp; Memory usage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400" b="1" i="0" dirty="0">
                <a:effectLst/>
                <a:latin typeface="Segoe WPC"/>
              </a:rPr>
              <a:t>Dark Mode</a:t>
            </a:r>
            <a:r>
              <a:rPr lang="en-US" sz="2400" b="0" i="0" dirty="0">
                <a:effectLst/>
                <a:latin typeface="Segoe WPC"/>
              </a:rPr>
              <a:t>: </a:t>
            </a:r>
            <a:r>
              <a:rPr lang="en-US" sz="2000" b="0" i="0" dirty="0">
                <a:effectLst/>
                <a:latin typeface="Segoe WPC"/>
              </a:rPr>
              <a:t>Add a dark theme for better user experience.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400" b="1" dirty="0"/>
              <a:t>Desktop app version using Electron</a:t>
            </a:r>
            <a:endParaRPr lang="en-US" sz="2000" b="1" i="0" dirty="0"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1779695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F471C-CDED-9510-1D87-7991A8E0E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33331AB-FF28-35A4-C3A3-803047892C75}"/>
              </a:ext>
            </a:extLst>
          </p:cNvPr>
          <p:cNvSpPr txBox="1"/>
          <p:nvPr/>
        </p:nvSpPr>
        <p:spPr>
          <a:xfrm>
            <a:off x="3964647" y="2228671"/>
            <a:ext cx="4493538" cy="120032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7200" b="1" i="1" dirty="0"/>
              <a:t>Thank you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216835877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602</TotalTime>
  <Words>1129</Words>
  <Application>Microsoft Office PowerPoint</Application>
  <PresentationFormat>Widescreen</PresentationFormat>
  <Paragraphs>250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Gill Sans MT</vt:lpstr>
      <vt:lpstr>Segoe WPC</vt:lpstr>
      <vt:lpstr>Wingdings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kapil handeriya</dc:creator>
  <cp:lastModifiedBy>vedaant sengar</cp:lastModifiedBy>
  <cp:revision>10</cp:revision>
  <dcterms:created xsi:type="dcterms:W3CDTF">2025-05-05T13:10:03Z</dcterms:created>
  <dcterms:modified xsi:type="dcterms:W3CDTF">2025-12-06T18:04:50Z</dcterms:modified>
</cp:coreProperties>
</file>